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Outfit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014995-45CF-4FE3-950D-8C4DFE6905B2}">
  <a:tblStyle styleId="{95014995-45CF-4FE3-950D-8C4DFE6905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839bab682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g3a839bab68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1531590"/>
            <a:ext cx="9525000" cy="379467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805463" y="2017365"/>
            <a:ext cx="8581072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Classifying Student Academic Performance Using Machine Learning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09775" y="4331940"/>
            <a:ext cx="81726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[Shivani Guduru]</a:t>
            </a:r>
            <a:r>
              <a:rPr lang="en-US" sz="1800" b="0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lang="en-US" sz="180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[23081838]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0002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Improving education quality is a global concern, leading to the rise of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Educational Data Mining (EDM)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7527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key task in EDM is predicting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Student Academic Performance (SPP)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By employing machine learning, we can forecast outcomes like grades or completion rates.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8100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Develop efficient early warning systems to pinpoint students at risk of failure or dropout, enabling timely pedagogical interventions.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Introduction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3650" y="2000250"/>
            <a:ext cx="5267325" cy="379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6012"/>
            <a:ext cx="5286375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86012"/>
            <a:ext cx="5286375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62025" y="277653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Classification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322421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Predicts binary outcomes (e.g., Pass vs. Fail).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62025" y="36718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These models often exhibit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accuracy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dependability. They are indispensable for teachers to identify "at-risk" students early.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724650" y="277653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Regression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724650" y="322421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Predicts continuous numerical grades.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724650" y="3671887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Methodologically more complex. Research indicates regression models often struggle to beat simple baselines due to data granularity issues.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814637"/>
            <a:ext cx="26149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814637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Background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571500" y="919162"/>
            <a:ext cx="11049000" cy="198120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143000" y="1109662"/>
            <a:ext cx="102870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 Challenges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 dimensionality and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Class Imbalance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(more passing students than failing) undermine model stability if not addressed.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919162"/>
            <a:ext cx="38100" cy="1981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71500" y="3138487"/>
            <a:ext cx="11049000" cy="16383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143000" y="3328987"/>
            <a:ext cx="102870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Ranking Predictors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Identifying which specific student characteristics are most influential is often overlooked but essential for targeted interventions.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3138487"/>
            <a:ext cx="38100" cy="16383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" y="5014912"/>
            <a:ext cx="11049000" cy="16383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143000" y="5205412"/>
            <a:ext cx="102870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"Black Box" Issue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Complex algorithms yield high accuracy but lack interpretability. Educators need actionable insights, not just predictions.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5014912"/>
            <a:ext cx="38100" cy="16383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17954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" y="38433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" y="57197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00100" y="109513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Problem Statement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61975" y="109513"/>
            <a:ext cx="573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59298"/>
            <a:ext cx="3492549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959298"/>
            <a:ext cx="3492549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959298"/>
            <a:ext cx="3492549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230787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use ML algorithms to predict academic performance with high accuracy and interpretability.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66775" y="3254573"/>
            <a:ext cx="40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66775" y="3864173"/>
            <a:ext cx="196633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Assess Accuracy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66775" y="4340423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Evaluate different ML algorithms in predicting student outcomes (Pass/Fail).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645074" y="3254573"/>
            <a:ext cx="48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45074" y="3864173"/>
            <a:ext cx="18563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Rank Attributes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645074" y="4340423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Pinpoint key predictors like study habits and socio-economic factors.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23374" y="3254573"/>
            <a:ext cx="48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423374" y="3864173"/>
            <a:ext cx="182069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Interpretability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423374" y="4340423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Compare actionable insights from interpretable models vs. black-box algorithms.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Aim and Objectives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/>
          <p:nvPr/>
        </p:nvSpPr>
        <p:spPr>
          <a:xfrm>
            <a:off x="571500" y="1547812"/>
            <a:ext cx="11049000" cy="13335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1143000" y="1738312"/>
            <a:ext cx="10287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RQ1: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How accurately can machine learning models classify student outcomes into performance categories based on academic, behavioral, and socio-economic features?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1547812"/>
            <a:ext cx="38100" cy="13335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71500" y="3119437"/>
            <a:ext cx="11049000" cy="13335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1143000" y="3309937"/>
            <a:ext cx="10287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RQ2: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Which student attributes (e.g., study habits, parental education, socio-economic background) are the most influential predictors of academic success?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3119437"/>
            <a:ext cx="38100" cy="13335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1500" y="4691062"/>
            <a:ext cx="11049000" cy="13335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1143000" y="4881562"/>
            <a:ext cx="10287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RQ3: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What type of actionable insights do interpretable machine learning models provide for educators compared to complex black-box algorithms?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4691062"/>
            <a:ext cx="38100" cy="13335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2100262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" y="36718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" y="524351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Research Questions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95412"/>
            <a:ext cx="54292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395412"/>
            <a:ext cx="54292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33737"/>
            <a:ext cx="54292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3233737"/>
            <a:ext cx="54292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72062"/>
            <a:ext cx="110490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790575" y="1585912"/>
            <a:ext cx="50196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IMRAN ET AL. (2019)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790575" y="1795462"/>
            <a:ext cx="50196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Used J48 Decision Tree Ensemble. Achieved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95.78%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accuracy by addressing class imbalance.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410325" y="1585912"/>
            <a:ext cx="50196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LAU, SUN &amp; YANG (2019)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410325" y="1795462"/>
            <a:ext cx="50196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Used ANN (Neural Networks). Achieved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84.8%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accuracy using socio-economic and entrance exam data.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90575" y="3424237"/>
            <a:ext cx="50196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 &amp; CHEN (2013)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90575" y="3633787"/>
            <a:ext cx="50196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Used Neuro-Fuzzy Classifier (NFC). Achieved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90.03%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accuracy, outperforming standard algorithms.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410325" y="3424237"/>
            <a:ext cx="50196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STRECHT ET AL. (2015)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410325" y="3633787"/>
            <a:ext cx="50196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Compared Classification vs Regression. Found classification effective, but regression failed to beat baselines.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790575" y="5262562"/>
            <a:ext cx="10639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GAP IDENTIFIED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790575" y="5472112"/>
            <a:ext cx="10639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Interpretability &amp; Methodology: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Previous studies often ignore data dimensionality/imbalance issues. More importantly, "black box" models fail to provide the actionable insights educators need for policy making.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62000" y="44291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Literature Review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71500" y="442912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4550"/>
            <a:ext cx="355595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08450" y="3057525"/>
            <a:ext cx="3508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12025" y="3057525"/>
            <a:ext cx="3508474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08450" y="3467100"/>
            <a:ext cx="3508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12025" y="3467100"/>
            <a:ext cx="3508474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08450" y="3876675"/>
            <a:ext cx="3508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12025" y="3876675"/>
            <a:ext cx="3508474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08450" y="4286250"/>
            <a:ext cx="3508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12025" y="4286250"/>
            <a:ext cx="3508474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08450" y="4695825"/>
            <a:ext cx="3508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12025" y="4695825"/>
            <a:ext cx="3508474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508450" y="5105400"/>
            <a:ext cx="3508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112025" y="5105400"/>
            <a:ext cx="3508474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57250" y="2400300"/>
            <a:ext cx="31336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Source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57250" y="2847975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Collected By: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Paulo Cortez &amp; Alice Silva (Univ. of Minho, Portugal, 2008).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57250" y="3905250"/>
            <a:ext cx="2984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Repository: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UCI Machine Learning Repository.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857250" y="4657725"/>
            <a:ext cx="2984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Students from two Portuguese secondary schools.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4508450" y="2114550"/>
            <a:ext cx="746765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Features Overview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508450" y="2562225"/>
            <a:ext cx="7112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Contains academic, demographic, and socio-economic data.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Dataset Information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57362"/>
            <a:ext cx="5286375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573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6334125" y="1757362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Analysis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334125" y="22050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distribution graph highlights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class imbalance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issue identified in the problem statement.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334125" y="2957512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majority of students fall into the "Medium" performance category, while the "Low" and "High" classes are underrepresented. This imbalance requires specific pre-processing (like SMOTE) to prevent model bias.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EDA: Performance Distribution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1757350"/>
            <a:ext cx="52863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3950" y="1519237"/>
            <a:ext cx="9944100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3950" y="1519237"/>
            <a:ext cx="99441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762000" y="566737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EDA: Distribution of Top 3 Numeric Features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566737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3950" y="1519225"/>
            <a:ext cx="9944099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57362"/>
            <a:ext cx="5286375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573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6334125" y="1757362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Demographic Insights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6334125" y="220503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School: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dataset is dominated by students from the Gabriel Pereira (GP) school compared to Mousinho Silveira (MS), potentially introducing location bias.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334125" y="32623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Gender: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distribution between Male and Female students is relatively balanced.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EDA: Demographic Distribution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1643075"/>
            <a:ext cx="5286376" cy="392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19237"/>
            <a:ext cx="5286375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571500" y="151923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Analysis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19669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Pearson Heatmap confirms that academic history (Grades/Failures) dominates prediction power over socio-economic factors.</a:t>
            </a:r>
            <a:endParaRPr/>
          </a:p>
        </p:txBody>
      </p:sp>
      <p:pic>
        <p:nvPicPr>
          <p:cNvPr id="268" name="Google Shape;26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192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571500" y="303371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Positive: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G1 and G2 are strongly correlated with G3.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571500" y="34813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Negative: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Past failures have a significant negative correlation with final performance.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762000" y="566737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EDA: Correlation Analysis</a:t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571500" y="566737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4125" y="1607350"/>
            <a:ext cx="5286374" cy="419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9873"/>
            <a:ext cx="11049000" cy="93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261520"/>
            <a:ext cx="11049000" cy="93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34729"/>
            <a:ext cx="5381625" cy="2141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834729"/>
            <a:ext cx="5381625" cy="2141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882479"/>
            <a:ext cx="19812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90825" y="3882479"/>
            <a:ext cx="10668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29375" y="3882479"/>
            <a:ext cx="2381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58250" y="3882479"/>
            <a:ext cx="10096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6076950" y="2558504"/>
            <a:ext cx="171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pic>
        <p:nvPicPr>
          <p:cNvPr id="288" name="Google Shape;288;p2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5350" y="184130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5350" y="549294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38225" y="198417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1562100" y="1800373"/>
            <a:ext cx="496062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Step 1: Feature Separation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1562100" y="2114700"/>
            <a:ext cx="538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Separating Target Variable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(y = 'performance')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from Features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(X)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762000" y="3063329"/>
            <a:ext cx="525065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Numeric Pipeline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762000" y="3358604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 quantitative data (e.g., Age, Absences)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762000" y="4215854"/>
            <a:ext cx="50006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Fills missing values with median (robust to outliers) and scales data to unit variance.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6429375" y="3063329"/>
            <a:ext cx="525065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Categorical Pipeline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6429375" y="3358604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 qualitative data (e.g., Job, School)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6429375" y="4215854"/>
            <a:ext cx="5000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Fills missing values with the mode and converts categories into binary vectors.</a:t>
            </a:r>
            <a:endParaRPr/>
          </a:p>
        </p:txBody>
      </p:sp>
      <p:pic>
        <p:nvPicPr>
          <p:cNvPr id="299" name="Google Shape;299;p2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23937" y="5635823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1562100" y="5452020"/>
            <a:ext cx="79209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Step 3: Final ColumnTransformer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1562100" y="5766345"/>
            <a:ext cx="75438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Combines both pipelines to output a fully processed, machine-readable feature matrix ready for training.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Feature Selection &amp; Pre-Processing</a:t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5519"/>
            <a:ext cx="8763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29750" y="1775519"/>
            <a:ext cx="2190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18519"/>
            <a:ext cx="5381625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2918519"/>
            <a:ext cx="5381625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3928169"/>
            <a:ext cx="48863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4937819"/>
            <a:ext cx="48863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86525" y="3928169"/>
            <a:ext cx="48863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86525" y="4937819"/>
            <a:ext cx="48863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1394519"/>
            <a:ext cx="11049000" cy="502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/>
        </p:nvSpPr>
        <p:spPr>
          <a:xfrm>
            <a:off x="696991" y="3166169"/>
            <a:ext cx="51306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TRAINING SET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819150" y="3528119"/>
            <a:ext cx="4886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Raw Shape: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819150" y="4537769"/>
            <a:ext cx="4886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Processed Shape: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6364366" y="3166169"/>
            <a:ext cx="51306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TESTING SET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6486525" y="3528119"/>
            <a:ext cx="4886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Raw Shape: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6486525" y="4537769"/>
            <a:ext cx="4886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Processed Shape: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762000" y="442019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Data Splitting &amp; Dimensions</a:t>
            </a:r>
            <a:endParaRPr/>
          </a:p>
        </p:txBody>
      </p:sp>
      <p:sp>
        <p:nvSpPr>
          <p:cNvPr id="325" name="Google Shape;325;p26"/>
          <p:cNvSpPr/>
          <p:nvPr/>
        </p:nvSpPr>
        <p:spPr>
          <a:xfrm>
            <a:off x="571500" y="442019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1" name="Google Shape;331;p27"/>
          <p:cNvGraphicFramePr/>
          <p:nvPr/>
        </p:nvGraphicFramePr>
        <p:xfrm>
          <a:off x="571500" y="2490787"/>
          <a:ext cx="11029950" cy="3019400"/>
        </p:xfrm>
        <a:graphic>
          <a:graphicData uri="http://schemas.openxmlformats.org/drawingml/2006/table">
            <a:tbl>
              <a:tblPr firstRow="1" bandRow="1">
                <a:noFill/>
                <a:tableStyleId>{95014995-45CF-4FE3-950D-8C4DFE6905B2}</a:tableStyleId>
              </a:tblPr>
              <a:tblGrid>
                <a:gridCol w="24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 Parameters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Details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Logistic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max_iter=1000 multi_class="auto"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Serves as a linear baseline for classification comparisons.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K-Nearest Neighbors (KNN)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n_neighbors=7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Distance-based classifier useful for finding local patterns.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Support Vector Classifier (SVC)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kernel="rbf" probability=True random_state=42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Non-linear classifier utilizing Radial Basis Function kernel. Probability enabled for ROC analysis.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2" name="Google Shape;332;p27"/>
          <p:cNvSpPr/>
          <p:nvPr/>
        </p:nvSpPr>
        <p:spPr>
          <a:xfrm>
            <a:off x="581025" y="3043237"/>
            <a:ext cx="24858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3066901" y="3043237"/>
            <a:ext cx="3111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6178301" y="3043237"/>
            <a:ext cx="54326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581025" y="3729037"/>
            <a:ext cx="24858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3066901" y="3729037"/>
            <a:ext cx="3111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6178301" y="3729037"/>
            <a:ext cx="54326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581025" y="4519612"/>
            <a:ext cx="24858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3066901" y="4519612"/>
            <a:ext cx="3111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6178301" y="4519612"/>
            <a:ext cx="54326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Model Configurations</a:t>
            </a:r>
            <a:endParaRPr/>
          </a:p>
        </p:txBody>
      </p:sp>
      <p:sp>
        <p:nvSpPr>
          <p:cNvPr id="342" name="Google Shape;342;p27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95400"/>
            <a:ext cx="35559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295400"/>
            <a:ext cx="35559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295400"/>
            <a:ext cx="355609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50" y="3924300"/>
            <a:ext cx="106299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 txBox="1"/>
          <p:nvPr/>
        </p:nvSpPr>
        <p:spPr>
          <a:xfrm>
            <a:off x="762000" y="1533525"/>
            <a:ext cx="33336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2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Logistic Regression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762000" y="1819275"/>
            <a:ext cx="31749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Accuracy (Mean ± SD)</a:t>
            </a: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0.923 ± 0.018</a:t>
            </a:r>
            <a:endParaRPr/>
          </a:p>
        </p:txBody>
      </p:sp>
      <p:sp>
        <p:nvSpPr>
          <p:cNvPr id="354" name="Google Shape;354;p28"/>
          <p:cNvSpPr/>
          <p:nvPr/>
        </p:nvSpPr>
        <p:spPr>
          <a:xfrm>
            <a:off x="762000" y="2095500"/>
            <a:ext cx="3174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 txBox="1"/>
          <p:nvPr/>
        </p:nvSpPr>
        <p:spPr>
          <a:xfrm>
            <a:off x="762000" y="2181225"/>
            <a:ext cx="3174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F1-Macro (Mean ± SD)</a:t>
            </a: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0.904 ± 0.024</a:t>
            </a:r>
            <a:endParaRPr/>
          </a:p>
        </p:txBody>
      </p:sp>
      <p:sp>
        <p:nvSpPr>
          <p:cNvPr id="356" name="Google Shape;356;p28"/>
          <p:cNvSpPr/>
          <p:nvPr/>
        </p:nvSpPr>
        <p:spPr>
          <a:xfrm>
            <a:off x="762000" y="2447925"/>
            <a:ext cx="3174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8"/>
          <p:cNvSpPr txBox="1"/>
          <p:nvPr/>
        </p:nvSpPr>
        <p:spPr>
          <a:xfrm>
            <a:off x="762000" y="2533650"/>
            <a:ext cx="3174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ROC-AUC (Mean ± SD)</a:t>
            </a: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0.985 ± 0.009</a:t>
            </a:r>
            <a:endParaRPr/>
          </a:p>
        </p:txBody>
      </p:sp>
      <p:sp>
        <p:nvSpPr>
          <p:cNvPr id="358" name="Google Shape;358;p28"/>
          <p:cNvSpPr/>
          <p:nvPr/>
        </p:nvSpPr>
        <p:spPr>
          <a:xfrm>
            <a:off x="762000" y="2800350"/>
            <a:ext cx="3174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8"/>
          <p:cNvSpPr txBox="1"/>
          <p:nvPr/>
        </p:nvSpPr>
        <p:spPr>
          <a:xfrm>
            <a:off x="762000" y="2886075"/>
            <a:ext cx="3174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Fastest training time (linear)</a:t>
            </a:r>
            <a:endParaRPr/>
          </a:p>
        </p:txBody>
      </p:sp>
      <p:sp>
        <p:nvSpPr>
          <p:cNvPr id="360" name="Google Shape;360;p28"/>
          <p:cNvSpPr txBox="1"/>
          <p:nvPr/>
        </p:nvSpPr>
        <p:spPr>
          <a:xfrm>
            <a:off x="4508450" y="1533525"/>
            <a:ext cx="33336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KNN (k=7)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4508450" y="1819275"/>
            <a:ext cx="3174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Accuracy (Mean ± SD)</a:t>
            </a: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0.789 ± 0.029</a:t>
            </a:r>
            <a:endParaRPr/>
          </a:p>
        </p:txBody>
      </p:sp>
      <p:sp>
        <p:nvSpPr>
          <p:cNvPr id="362" name="Google Shape;362;p28"/>
          <p:cNvSpPr/>
          <p:nvPr/>
        </p:nvSpPr>
        <p:spPr>
          <a:xfrm>
            <a:off x="4508450" y="2085975"/>
            <a:ext cx="3174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8"/>
          <p:cNvSpPr txBox="1"/>
          <p:nvPr/>
        </p:nvSpPr>
        <p:spPr>
          <a:xfrm>
            <a:off x="4508450" y="2171700"/>
            <a:ext cx="3174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F1-Macro (Mean ± SD)</a:t>
            </a: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0.678 ± 0.046</a:t>
            </a:r>
            <a:endParaRPr/>
          </a:p>
        </p:txBody>
      </p:sp>
      <p:sp>
        <p:nvSpPr>
          <p:cNvPr id="364" name="Google Shape;364;p28"/>
          <p:cNvSpPr/>
          <p:nvPr/>
        </p:nvSpPr>
        <p:spPr>
          <a:xfrm>
            <a:off x="4508450" y="2438400"/>
            <a:ext cx="3174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8"/>
          <p:cNvSpPr txBox="1"/>
          <p:nvPr/>
        </p:nvSpPr>
        <p:spPr>
          <a:xfrm>
            <a:off x="4508450" y="2524125"/>
            <a:ext cx="3174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ROC-AUC (Mean ± SD)</a:t>
            </a: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0.913 ± 0.021</a:t>
            </a:r>
            <a:endParaRPr/>
          </a:p>
        </p:txBody>
      </p:sp>
      <p:sp>
        <p:nvSpPr>
          <p:cNvPr id="366" name="Google Shape;366;p28"/>
          <p:cNvSpPr/>
          <p:nvPr/>
        </p:nvSpPr>
        <p:spPr>
          <a:xfrm>
            <a:off x="4508450" y="2790825"/>
            <a:ext cx="3174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 txBox="1"/>
          <p:nvPr/>
        </p:nvSpPr>
        <p:spPr>
          <a:xfrm>
            <a:off x="4508450" y="2886075"/>
            <a:ext cx="3174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Lowest stability/highest variance</a:t>
            </a:r>
            <a:endParaRPr/>
          </a:p>
        </p:txBody>
      </p:sp>
      <p:sp>
        <p:nvSpPr>
          <p:cNvPr id="368" name="Google Shape;368;p28"/>
          <p:cNvSpPr txBox="1"/>
          <p:nvPr/>
        </p:nvSpPr>
        <p:spPr>
          <a:xfrm>
            <a:off x="8254900" y="1533525"/>
            <a:ext cx="333385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SVC (RBF)</a:t>
            </a:r>
            <a:endParaRPr/>
          </a:p>
        </p:txBody>
      </p:sp>
      <p:sp>
        <p:nvSpPr>
          <p:cNvPr id="369" name="Google Shape;369;p28"/>
          <p:cNvSpPr txBox="1"/>
          <p:nvPr/>
        </p:nvSpPr>
        <p:spPr>
          <a:xfrm>
            <a:off x="8254900" y="1819275"/>
            <a:ext cx="317509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Accuracy (Mean ± SD)</a:t>
            </a: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0.887 ± 0.013</a:t>
            </a:r>
            <a:endParaRPr/>
          </a:p>
        </p:txBody>
      </p:sp>
      <p:sp>
        <p:nvSpPr>
          <p:cNvPr id="370" name="Google Shape;370;p28"/>
          <p:cNvSpPr/>
          <p:nvPr/>
        </p:nvSpPr>
        <p:spPr>
          <a:xfrm>
            <a:off x="8254900" y="2085975"/>
            <a:ext cx="31750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 txBox="1"/>
          <p:nvPr/>
        </p:nvSpPr>
        <p:spPr>
          <a:xfrm>
            <a:off x="8254900" y="2171700"/>
            <a:ext cx="317509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F1-Macro (Mean ± SD)</a:t>
            </a: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0.844 ± 0.020</a:t>
            </a:r>
            <a:endParaRPr/>
          </a:p>
        </p:txBody>
      </p:sp>
      <p:sp>
        <p:nvSpPr>
          <p:cNvPr id="372" name="Google Shape;372;p28"/>
          <p:cNvSpPr/>
          <p:nvPr/>
        </p:nvSpPr>
        <p:spPr>
          <a:xfrm>
            <a:off x="8254900" y="2438400"/>
            <a:ext cx="31750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8254900" y="2524125"/>
            <a:ext cx="317509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ROC-AUC (Mean ± SD)</a:t>
            </a: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0.980 ± 0.007</a:t>
            </a:r>
            <a:endParaRPr/>
          </a:p>
        </p:txBody>
      </p:sp>
      <p:sp>
        <p:nvSpPr>
          <p:cNvPr id="374" name="Google Shape;374;p28"/>
          <p:cNvSpPr/>
          <p:nvPr/>
        </p:nvSpPr>
        <p:spPr>
          <a:xfrm>
            <a:off x="8254900" y="2790825"/>
            <a:ext cx="31750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 txBox="1"/>
          <p:nvPr/>
        </p:nvSpPr>
        <p:spPr>
          <a:xfrm>
            <a:off x="8254900" y="2886075"/>
            <a:ext cx="3175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Highest training time (non-linear)</a:t>
            </a:r>
            <a:endParaRPr/>
          </a:p>
        </p:txBody>
      </p:sp>
      <p:pic>
        <p:nvPicPr>
          <p:cNvPr id="376" name="Google Shape;376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29023" y="1562100"/>
            <a:ext cx="215354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8"/>
          <p:cNvSpPr txBox="1"/>
          <p:nvPr/>
        </p:nvSpPr>
        <p:spPr>
          <a:xfrm>
            <a:off x="762000" y="3429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Model Evaluation: Cross-Validation</a:t>
            </a:r>
            <a:endParaRPr/>
          </a:p>
        </p:txBody>
      </p:sp>
      <p:sp>
        <p:nvSpPr>
          <p:cNvPr id="378" name="Google Shape;378;p28"/>
          <p:cNvSpPr/>
          <p:nvPr/>
        </p:nvSpPr>
        <p:spPr>
          <a:xfrm>
            <a:off x="571500" y="3429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8650" y="3695700"/>
            <a:ext cx="346705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17950" y="3695700"/>
            <a:ext cx="3555950" cy="266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64400" y="3705225"/>
            <a:ext cx="355610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95325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571500" y="61912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Receiver Operating Characteristic</a:t>
            </a:r>
            <a:endParaRPr/>
          </a:p>
        </p:txBody>
      </p:sp>
      <p:sp>
        <p:nvSpPr>
          <p:cNvPr id="388" name="Google Shape;388;p29"/>
          <p:cNvSpPr txBox="1"/>
          <p:nvPr/>
        </p:nvSpPr>
        <p:spPr>
          <a:xfrm>
            <a:off x="571500" y="106680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ROC curves illustrate the diagnostic ability of our classifiers.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Logistic Regression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clearly outperforms the others with a macro-average AUC of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0.985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(Mean CV Score).</a:t>
            </a:r>
            <a:endParaRPr/>
          </a:p>
        </p:txBody>
      </p:sp>
      <p:pic>
        <p:nvPicPr>
          <p:cNvPr id="389" name="Google Shape;38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638175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9"/>
          <p:cNvSpPr/>
          <p:nvPr/>
        </p:nvSpPr>
        <p:spPr>
          <a:xfrm>
            <a:off x="952500" y="2476500"/>
            <a:ext cx="4905375" cy="102870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 txBox="1"/>
          <p:nvPr/>
        </p:nvSpPr>
        <p:spPr>
          <a:xfrm>
            <a:off x="1524000" y="2667000"/>
            <a:ext cx="414337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LogReg (0.985):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Excellent separation and high stability.</a:t>
            </a:r>
            <a:endParaRPr/>
          </a:p>
        </p:txBody>
      </p:sp>
      <p:sp>
        <p:nvSpPr>
          <p:cNvPr id="392" name="Google Shape;392;p29"/>
          <p:cNvSpPr/>
          <p:nvPr/>
        </p:nvSpPr>
        <p:spPr>
          <a:xfrm>
            <a:off x="952500" y="2476500"/>
            <a:ext cx="38100" cy="10287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952500" y="3743325"/>
            <a:ext cx="4905375" cy="13335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9"/>
          <p:cNvSpPr txBox="1"/>
          <p:nvPr/>
        </p:nvSpPr>
        <p:spPr>
          <a:xfrm>
            <a:off x="1524000" y="3933825"/>
            <a:ext cx="414337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SVC (0.980):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Very strong non-linear performance, close second.</a:t>
            </a:r>
            <a:endParaRPr/>
          </a:p>
        </p:txBody>
      </p:sp>
      <p:sp>
        <p:nvSpPr>
          <p:cNvPr id="395" name="Google Shape;395;p29"/>
          <p:cNvSpPr/>
          <p:nvPr/>
        </p:nvSpPr>
        <p:spPr>
          <a:xfrm>
            <a:off x="952500" y="3743325"/>
            <a:ext cx="38100" cy="13335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952500" y="5314950"/>
            <a:ext cx="4905300" cy="12573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9"/>
          <p:cNvSpPr txBox="1"/>
          <p:nvPr/>
        </p:nvSpPr>
        <p:spPr>
          <a:xfrm>
            <a:off x="1524000" y="5505450"/>
            <a:ext cx="4143375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KNN (0.913):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Lowest performance, indicating local patterns are less effective than global features.</a:t>
            </a:r>
            <a:endParaRPr/>
          </a:p>
        </p:txBody>
      </p:sp>
      <p:sp>
        <p:nvSpPr>
          <p:cNvPr id="398" name="Google Shape;398;p29"/>
          <p:cNvSpPr/>
          <p:nvPr/>
        </p:nvSpPr>
        <p:spPr>
          <a:xfrm>
            <a:off x="952500" y="5314950"/>
            <a:ext cx="38100" cy="16383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100" y="28765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100" y="42957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100" y="601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9"/>
          <p:cNvSpPr txBox="1"/>
          <p:nvPr/>
        </p:nvSpPr>
        <p:spPr>
          <a:xfrm>
            <a:off x="790500" y="1317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ROC Curve Analysis</a:t>
            </a:r>
            <a:endParaRPr/>
          </a:p>
        </p:txBody>
      </p:sp>
      <p:sp>
        <p:nvSpPr>
          <p:cNvPr id="403" name="Google Shape;403;p29"/>
          <p:cNvSpPr/>
          <p:nvPr/>
        </p:nvSpPr>
        <p:spPr>
          <a:xfrm flipH="1">
            <a:off x="571500" y="186750"/>
            <a:ext cx="38100" cy="444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3175" y="638175"/>
            <a:ext cx="5248275" cy="398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3207"/>
            <a:ext cx="7111900" cy="196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33887"/>
            <a:ext cx="7111900" cy="196780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0"/>
          <p:cNvSpPr txBox="1"/>
          <p:nvPr/>
        </p:nvSpPr>
        <p:spPr>
          <a:xfrm>
            <a:off x="571500" y="1265932"/>
            <a:ext cx="7111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Due to the small size of the dataset and the class imbalance (as seen in Figure 3.1),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Stratified K-Fold Cross-Validation (CV)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was essential to ensure robust and unbiased model evaluation.</a:t>
            </a:r>
            <a:endParaRPr/>
          </a:p>
        </p:txBody>
      </p:sp>
      <p:sp>
        <p:nvSpPr>
          <p:cNvPr id="413" name="Google Shape;413;p30"/>
          <p:cNvSpPr txBox="1"/>
          <p:nvPr/>
        </p:nvSpPr>
        <p:spPr>
          <a:xfrm>
            <a:off x="8064400" y="1265932"/>
            <a:ext cx="373390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Key CV Results Summary (k=5)</a:t>
            </a:r>
            <a:endParaRPr/>
          </a:p>
        </p:txBody>
      </p:sp>
      <p:graphicFrame>
        <p:nvGraphicFramePr>
          <p:cNvPr id="414" name="Google Shape;414;p30"/>
          <p:cNvGraphicFramePr/>
          <p:nvPr/>
        </p:nvGraphicFramePr>
        <p:xfrm>
          <a:off x="8064400" y="1713607"/>
          <a:ext cx="3556100" cy="1562100"/>
        </p:xfrm>
        <a:graphic>
          <a:graphicData uri="http://schemas.openxmlformats.org/drawingml/2006/table">
            <a:tbl>
              <a:tblPr firstRow="1" bandRow="1">
                <a:noFill/>
                <a:tableStyleId>{95014995-45CF-4FE3-950D-8C4DFE6905B2}</a:tableStyleId>
              </a:tblPr>
              <a:tblGrid>
                <a:gridCol w="120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 (Mean)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LogReg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92.3%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SVC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88.7%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KNN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78.9%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5" name="Google Shape;415;p30"/>
          <p:cNvSpPr txBox="1"/>
          <p:nvPr/>
        </p:nvSpPr>
        <p:spPr>
          <a:xfrm>
            <a:off x="8064400" y="3418582"/>
            <a:ext cx="35560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low Standard Deviation (SD) in LogReg's performance (±0.018) confirms its stability across all folds.</a:t>
            </a:r>
            <a:endParaRPr/>
          </a:p>
        </p:txBody>
      </p:sp>
      <p:sp>
        <p:nvSpPr>
          <p:cNvPr id="416" name="Google Shape;416;p30"/>
          <p:cNvSpPr txBox="1"/>
          <p:nvPr/>
        </p:nvSpPr>
        <p:spPr>
          <a:xfrm>
            <a:off x="800100" y="2767012"/>
            <a:ext cx="7027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Why Stratified?</a:t>
            </a:r>
            <a:endParaRPr/>
          </a:p>
        </p:txBody>
      </p:sp>
      <p:sp>
        <p:nvSpPr>
          <p:cNvPr id="417" name="Google Shape;417;p30"/>
          <p:cNvSpPr txBox="1"/>
          <p:nvPr/>
        </p:nvSpPr>
        <p:spPr>
          <a:xfrm>
            <a:off x="800100" y="3043237"/>
            <a:ext cx="669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Ensures that each of the K folds has the same proportion of target classes ('Low', 'Medium', 'High') as the original dataset. This is critical when dealing with minority classes like 'Low' performance.</a:t>
            </a:r>
            <a:endParaRPr/>
          </a:p>
        </p:txBody>
      </p:sp>
      <p:sp>
        <p:nvSpPr>
          <p:cNvPr id="418" name="Google Shape;418;p30"/>
          <p:cNvSpPr txBox="1"/>
          <p:nvPr/>
        </p:nvSpPr>
        <p:spPr>
          <a:xfrm>
            <a:off x="800100" y="4877692"/>
            <a:ext cx="7027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Why Cross-Validation?</a:t>
            </a:r>
            <a:endParaRPr/>
          </a:p>
        </p:txBody>
      </p:sp>
      <p:sp>
        <p:nvSpPr>
          <p:cNvPr id="419" name="Google Shape;419;p30"/>
          <p:cNvSpPr txBox="1"/>
          <p:nvPr/>
        </p:nvSpPr>
        <p:spPr>
          <a:xfrm>
            <a:off x="800100" y="5153917"/>
            <a:ext cx="669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Provides a more reliable estimate of a model's real-world performance by training and testing the model K times on different subsets. This minimizes the risk of overfitting to a single train/test split.</a:t>
            </a:r>
            <a:endParaRPr/>
          </a:p>
        </p:txBody>
      </p:sp>
      <p:sp>
        <p:nvSpPr>
          <p:cNvPr id="420" name="Google Shape;420;p30"/>
          <p:cNvSpPr/>
          <p:nvPr/>
        </p:nvSpPr>
        <p:spPr>
          <a:xfrm>
            <a:off x="8064400" y="2089844"/>
            <a:ext cx="12059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0"/>
          <p:cNvSpPr/>
          <p:nvPr/>
        </p:nvSpPr>
        <p:spPr>
          <a:xfrm>
            <a:off x="9270355" y="2089844"/>
            <a:ext cx="23501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0"/>
          <p:cNvSpPr/>
          <p:nvPr/>
        </p:nvSpPr>
        <p:spPr>
          <a:xfrm>
            <a:off x="8064400" y="2480369"/>
            <a:ext cx="12059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0"/>
          <p:cNvSpPr/>
          <p:nvPr/>
        </p:nvSpPr>
        <p:spPr>
          <a:xfrm>
            <a:off x="9270355" y="2480369"/>
            <a:ext cx="23501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0"/>
          <p:cNvSpPr/>
          <p:nvPr/>
        </p:nvSpPr>
        <p:spPr>
          <a:xfrm>
            <a:off x="8064400" y="2870894"/>
            <a:ext cx="12059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0"/>
          <p:cNvSpPr/>
          <p:nvPr/>
        </p:nvSpPr>
        <p:spPr>
          <a:xfrm>
            <a:off x="9270355" y="2870894"/>
            <a:ext cx="23501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0"/>
          <p:cNvSpPr/>
          <p:nvPr/>
        </p:nvSpPr>
        <p:spPr>
          <a:xfrm>
            <a:off x="8064400" y="3261419"/>
            <a:ext cx="12059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9270355" y="3261419"/>
            <a:ext cx="23501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0"/>
          <p:cNvSpPr txBox="1"/>
          <p:nvPr/>
        </p:nvSpPr>
        <p:spPr>
          <a:xfrm>
            <a:off x="762000" y="313432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Stratified K-Fold CV</a:t>
            </a:r>
            <a:endParaRPr/>
          </a:p>
        </p:txBody>
      </p:sp>
      <p:sp>
        <p:nvSpPr>
          <p:cNvPr id="429" name="Google Shape;429;p30"/>
          <p:cNvSpPr/>
          <p:nvPr/>
        </p:nvSpPr>
        <p:spPr>
          <a:xfrm>
            <a:off x="571500" y="313432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15704"/>
            <a:ext cx="3492400" cy="3081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650" y="3015704"/>
            <a:ext cx="3492549" cy="3081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7950" y="3015704"/>
            <a:ext cx="3492400" cy="3081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79575" y="331097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1"/>
          <p:cNvSpPr txBox="1"/>
          <p:nvPr/>
        </p:nvSpPr>
        <p:spPr>
          <a:xfrm>
            <a:off x="1085206" y="3834854"/>
            <a:ext cx="2464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Feature Importance </a:t>
            </a:r>
            <a:endParaRPr/>
          </a:p>
        </p:txBody>
      </p:sp>
      <p:sp>
        <p:nvSpPr>
          <p:cNvPr id="441" name="Google Shape;441;p31"/>
          <p:cNvSpPr txBox="1"/>
          <p:nvPr/>
        </p:nvSpPr>
        <p:spPr>
          <a:xfrm>
            <a:off x="866775" y="4196804"/>
            <a:ext cx="29019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Apply feature importance techniques (e.g., LogReg coefficients, Permutation Importance) to **rank student attributes** that drive prediction.</a:t>
            </a:r>
            <a:endParaRPr/>
          </a:p>
        </p:txBody>
      </p:sp>
      <p:pic>
        <p:nvPicPr>
          <p:cNvPr id="442" name="Google Shape;442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57726" y="331097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1"/>
          <p:cNvSpPr txBox="1"/>
          <p:nvPr/>
        </p:nvSpPr>
        <p:spPr>
          <a:xfrm>
            <a:off x="4782249" y="3834854"/>
            <a:ext cx="2627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Model Interpretability </a:t>
            </a:r>
            <a:endParaRPr/>
          </a:p>
        </p:txBody>
      </p:sp>
      <p:sp>
        <p:nvSpPr>
          <p:cNvPr id="444" name="Google Shape;444;p31"/>
          <p:cNvSpPr txBox="1"/>
          <p:nvPr/>
        </p:nvSpPr>
        <p:spPr>
          <a:xfrm>
            <a:off x="4644925" y="4196804"/>
            <a:ext cx="29019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Use explainable AI (XAI) techniques like **LIME or SHAP** to explain individual student predictions. This demonstrates the model's value over a black box</a:t>
            </a:r>
            <a:r>
              <a:rPr lang="en-US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445" name="Google Shape;445;p3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59838" y="3310979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1"/>
          <p:cNvSpPr txBox="1"/>
          <p:nvPr/>
        </p:nvSpPr>
        <p:spPr>
          <a:xfrm>
            <a:off x="8735105" y="3834854"/>
            <a:ext cx="2277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Hyperparameter Tuning</a:t>
            </a:r>
            <a:endParaRPr/>
          </a:p>
        </p:txBody>
      </p:sp>
      <p:sp>
        <p:nvSpPr>
          <p:cNvPr id="447" name="Google Shape;447;p31"/>
          <p:cNvSpPr txBox="1"/>
          <p:nvPr/>
        </p:nvSpPr>
        <p:spPr>
          <a:xfrm>
            <a:off x="8423225" y="4196804"/>
            <a:ext cx="2901900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Refine the best-performing models (LogReg, SVC) using techniques like Grid Search or Bayesian Optimization to **maximize performance and robustness**.</a:t>
            </a:r>
            <a:endParaRPr/>
          </a:p>
        </p:txBody>
      </p:sp>
      <p:sp>
        <p:nvSpPr>
          <p:cNvPr id="448" name="Google Shape;448;p31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What is Next? </a:t>
            </a: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1331</Words>
  <Application>Microsoft Office PowerPoint</Application>
  <PresentationFormat>Widescreen</PresentationFormat>
  <Paragraphs>141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Inter</vt:lpstr>
      <vt:lpstr>Arial</vt:lpstr>
      <vt:lpstr>Outfit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</dc:creator>
  <cp:lastModifiedBy>Upender Goud</cp:lastModifiedBy>
  <cp:revision>2</cp:revision>
  <dcterms:modified xsi:type="dcterms:W3CDTF">2025-11-24T11:28:36Z</dcterms:modified>
</cp:coreProperties>
</file>